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6" r:id="rId6"/>
    <p:sldId id="262" r:id="rId7"/>
    <p:sldId id="264" r:id="rId8"/>
    <p:sldId id="265" r:id="rId9"/>
    <p:sldId id="261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9" autoAdjust="0"/>
    <p:restoredTop sz="94660"/>
  </p:normalViewPr>
  <p:slideViewPr>
    <p:cSldViewPr snapToGrid="0">
      <p:cViewPr varScale="1">
        <p:scale>
          <a:sx n="95" d="100"/>
          <a:sy n="95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0C2A4-6083-4132-8296-02C81DA9B70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935690-6692-453B-B21B-348EF862F2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693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9040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987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660870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4148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59960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0299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78210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7802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2245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549768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011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450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97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277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EC5D06DA-14FE-419D-8BE0-B8AD9D8EFA32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0C1FBCFA-4F7D-4F95-8E7D-88DF9595B17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938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51069" y="1169889"/>
            <a:ext cx="9109152" cy="2098226"/>
          </a:xfrm>
        </p:spPr>
        <p:txBody>
          <a:bodyPr/>
          <a:lstStyle/>
          <a:p>
            <a:r>
              <a:rPr lang="ru-RU" sz="4000" dirty="0"/>
              <a:t>Проект по дисциплине</a:t>
            </a:r>
            <a:r>
              <a:rPr lang="en-US" sz="4000" dirty="0"/>
              <a:t>:”</a:t>
            </a:r>
            <a:r>
              <a:rPr lang="ru-RU" sz="4000" dirty="0" err="1"/>
              <a:t>технологиИ</a:t>
            </a:r>
            <a:r>
              <a:rPr lang="ru-RU" sz="4000" dirty="0"/>
              <a:t> разработки интернет-приложений</a:t>
            </a:r>
            <a:r>
              <a:rPr lang="en-US" sz="4000" dirty="0"/>
              <a:t>”</a:t>
            </a: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679906" y="3340249"/>
            <a:ext cx="6831673" cy="1124175"/>
          </a:xfrm>
        </p:spPr>
        <p:txBody>
          <a:bodyPr/>
          <a:lstStyle/>
          <a:p>
            <a:r>
              <a:rPr lang="ru-RU" dirty="0"/>
              <a:t>По теме</a:t>
            </a:r>
            <a:r>
              <a:rPr lang="en-US" dirty="0"/>
              <a:t>: “</a:t>
            </a:r>
            <a:r>
              <a:rPr lang="ru-RU" dirty="0"/>
              <a:t>Разработка персонального финансового консультанта для студентов на основе рейтингов</a:t>
            </a:r>
            <a:r>
              <a:rPr lang="en-US" dirty="0"/>
              <a:t>”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811673" y="4464424"/>
            <a:ext cx="598086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dirty="0"/>
              <a:t>Ведущий разработчик ООО </a:t>
            </a:r>
            <a:r>
              <a:rPr lang="en-US" dirty="0"/>
              <a:t>“</a:t>
            </a:r>
            <a:r>
              <a:rPr lang="en-US" dirty="0" err="1"/>
              <a:t>FinGrade</a:t>
            </a:r>
            <a:r>
              <a:rPr lang="en-US" dirty="0"/>
              <a:t>”:</a:t>
            </a:r>
            <a:r>
              <a:rPr lang="ru-RU" dirty="0"/>
              <a:t> Яковец А.</a:t>
            </a:r>
          </a:p>
          <a:p>
            <a:r>
              <a:rPr lang="ru-RU" dirty="0"/>
              <a:t>Специалист по искусственному интеллекту</a:t>
            </a:r>
            <a:r>
              <a:rPr lang="en-US" dirty="0"/>
              <a:t>:</a:t>
            </a:r>
            <a:r>
              <a:rPr lang="ru-RU" dirty="0" err="1"/>
              <a:t>Молостова</a:t>
            </a:r>
            <a:r>
              <a:rPr lang="ru-RU" dirty="0"/>
              <a:t> В.А.</a:t>
            </a:r>
          </a:p>
          <a:p>
            <a:r>
              <a:rPr lang="ru-RU" dirty="0"/>
              <a:t>Аналитик  данных и дизайнер</a:t>
            </a:r>
            <a:r>
              <a:rPr lang="en-US" dirty="0"/>
              <a:t>:</a:t>
            </a:r>
            <a:r>
              <a:rPr lang="ru-RU" dirty="0" err="1"/>
              <a:t>Новосельская</a:t>
            </a:r>
            <a:r>
              <a:rPr lang="ru-RU" dirty="0"/>
              <a:t> К.Д.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422738" y="5684459"/>
            <a:ext cx="544674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/>
              <a:t>Кафедра</a:t>
            </a:r>
            <a:r>
              <a:rPr lang="en-US" dirty="0"/>
              <a:t>: </a:t>
            </a:r>
            <a:r>
              <a:rPr lang="ru-RU" dirty="0"/>
              <a:t>Автоматизированные системы управления</a:t>
            </a:r>
          </a:p>
          <a:p>
            <a:pPr algn="ctr"/>
            <a:r>
              <a:rPr lang="ru-RU" dirty="0"/>
              <a:t>2026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592619" y="25826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0"/>
              </a:spcAft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МОСКОВСКИЙ АВТОМОБИЛЬНО-ДОРОЖНЫЙ</a:t>
            </a:r>
          </a:p>
          <a:p>
            <a:pPr indent="450215" algn="ctr">
              <a:lnSpc>
                <a:spcPct val="150000"/>
              </a:lnSpc>
              <a:spcAft>
                <a:spcPts val="0"/>
              </a:spcAft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ГОСУДАРСТВЕННЫЙ ТЕХНИЧЕСКИЙ УНИВЕРСИТЕТ (МАДИ)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4005" y="306397"/>
            <a:ext cx="1075764" cy="86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84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1600" y="231289"/>
            <a:ext cx="9601200" cy="704626"/>
          </a:xfrm>
        </p:spPr>
        <p:txBody>
          <a:bodyPr/>
          <a:lstStyle/>
          <a:p>
            <a:r>
              <a:rPr lang="ru-RU" dirty="0"/>
              <a:t>Обоснование выбора 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71600" y="935915"/>
            <a:ext cx="9601200" cy="5534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b="1" dirty="0"/>
              <a:t>Актуальность проблемы: </a:t>
            </a:r>
          </a:p>
          <a:p>
            <a:pPr marL="0" indent="0">
              <a:buNone/>
            </a:pPr>
            <a:r>
              <a:rPr lang="ru-RU" sz="1800" dirty="0"/>
              <a:t>Студенчество как социальная группа характеризуется ограниченными возможностями финансовых ресурсов и отсутствием навыков бюджетирования. Нерациональное распределение ограниченных доходов (стипендия, подработки) приводит к устойчивому бюджетному дисбалансу и росту финансового стресса.</a:t>
            </a:r>
          </a:p>
          <a:p>
            <a:pPr marL="0" indent="0">
              <a:buNone/>
            </a:pPr>
            <a:r>
              <a:rPr lang="ru-RU" sz="2800" b="1" dirty="0"/>
              <a:t>Идея проекта: </a:t>
            </a:r>
          </a:p>
          <a:p>
            <a:pPr marL="0" indent="0">
              <a:buNone/>
            </a:pPr>
            <a:r>
              <a:rPr lang="ru-RU" sz="1800" dirty="0"/>
              <a:t>Создание цифрового инструмента для повышения финансовой грамотности студентов.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4426" y="3951064"/>
            <a:ext cx="3131334" cy="2519661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371599" y="3703320"/>
            <a:ext cx="7292827" cy="2339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/>
              <a:t>Главные задачи помощника:</a:t>
            </a:r>
          </a:p>
          <a:p>
            <a:endParaRPr lang="ru-RU" dirty="0"/>
          </a:p>
          <a:p>
            <a:r>
              <a:rPr lang="ru-RU" sz="2000" dirty="0"/>
              <a:t>1. Визуализация структуры расходов по категориям.</a:t>
            </a:r>
          </a:p>
          <a:p>
            <a:r>
              <a:rPr lang="ru-RU" sz="2000" dirty="0"/>
              <a:t>2. Расчет Коэффициента Финансовой Грамотности (КФГ) для оценки сбалансированности бюджета.</a:t>
            </a:r>
          </a:p>
          <a:p>
            <a:r>
              <a:rPr lang="ru-RU" sz="2000" dirty="0"/>
              <a:t>3. Предоставление персонализированных рекомендаций и доступа к ИИ-консультанту по финансам.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3322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1600" y="285078"/>
            <a:ext cx="9601200" cy="104349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191B0E"/>
                </a:solidFill>
              </a:rPr>
              <a:t>Gartner 2026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371600" y="1399579"/>
            <a:ext cx="3948056" cy="720329"/>
          </a:xfrm>
        </p:spPr>
        <p:txBody>
          <a:bodyPr/>
          <a:lstStyle/>
          <a:p>
            <a:r>
              <a:rPr lang="ru-RU" b="1" dirty="0" err="1"/>
              <a:t>Мультиагентные</a:t>
            </a:r>
            <a:r>
              <a:rPr lang="ru-RU" b="1" dirty="0"/>
              <a:t> системы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244256" y="2119908"/>
            <a:ext cx="4202744" cy="4286923"/>
          </a:xfrm>
        </p:spPr>
        <p:txBody>
          <a:bodyPr>
            <a:noAutofit/>
          </a:bodyPr>
          <a:lstStyle/>
          <a:p>
            <a:r>
              <a:rPr lang="ru-RU" sz="1900" dirty="0"/>
              <a:t>Агент-аналитик обрабатывает введенные пользователем данные о доходах и расходах, рассчитывает остаток и Коэффициент Финансовой Грамотности (КФГ).</a:t>
            </a:r>
          </a:p>
          <a:p>
            <a:r>
              <a:rPr lang="ru-RU" sz="1900" dirty="0"/>
              <a:t>Агент-советник (чат) на основе этих данных и запросов пользователя генерирует персонализированные текстовые рекомендации.</a:t>
            </a:r>
          </a:p>
          <a:p>
            <a:r>
              <a:rPr lang="ru-RU" sz="1900" dirty="0"/>
              <a:t>Вместе они решают комплексную задачу, недоступную одному агенту — дают не просто статистику, а готовый финансовый совет.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613" y="1610343"/>
            <a:ext cx="6485786" cy="4871141"/>
          </a:xfrm>
          <a:prstGeom prst="rect">
            <a:avLst/>
          </a:prstGeom>
        </p:spPr>
      </p:pic>
      <p:sp>
        <p:nvSpPr>
          <p:cNvPr id="13" name="Скругленный прямоугольник 12"/>
          <p:cNvSpPr/>
          <p:nvPr/>
        </p:nvSpPr>
        <p:spPr>
          <a:xfrm>
            <a:off x="7551868" y="2673275"/>
            <a:ext cx="2226833" cy="304979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9540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42508" y="188259"/>
            <a:ext cx="9601200" cy="715383"/>
          </a:xfrm>
        </p:spPr>
        <p:txBody>
          <a:bodyPr/>
          <a:lstStyle/>
          <a:p>
            <a:r>
              <a:rPr lang="ru-RU" b="1" dirty="0"/>
              <a:t>Чек – лист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32734" y="995082"/>
            <a:ext cx="11118028" cy="55509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800" dirty="0"/>
              <a:t>1. Анализ и концепция</a:t>
            </a:r>
          </a:p>
          <a:p>
            <a:r>
              <a:rPr lang="ru-RU" sz="1800" dirty="0"/>
              <a:t>Изучили потребности студентов, определили метрики (доходы, расходы, КФГ), распределили роли в команде.</a:t>
            </a:r>
          </a:p>
          <a:p>
            <a:pPr marL="0" indent="0">
              <a:buNone/>
            </a:pPr>
            <a:r>
              <a:rPr lang="ru-RU" sz="1800" dirty="0"/>
              <a:t>2. Дизайн-макет</a:t>
            </a:r>
          </a:p>
          <a:p>
            <a:r>
              <a:rPr lang="ru-RU" sz="1800" dirty="0"/>
              <a:t>Дизайнер создал прототип интерфейса: структуру страницы, расположение блоков, цветовую гамму.</a:t>
            </a:r>
          </a:p>
          <a:p>
            <a:pPr marL="0" indent="0">
              <a:buNone/>
            </a:pPr>
            <a:r>
              <a:rPr lang="ru-RU" sz="1800" dirty="0"/>
              <a:t>3. Верстка и логика</a:t>
            </a:r>
          </a:p>
          <a:p>
            <a:r>
              <a:rPr lang="ru-RU" sz="1800" dirty="0"/>
              <a:t>Разработчик сверстал сайт (HTML/CSS) и написал </a:t>
            </a:r>
            <a:r>
              <a:rPr lang="ru-RU" sz="1800" dirty="0" err="1"/>
              <a:t>JavaScript</a:t>
            </a:r>
            <a:r>
              <a:rPr lang="ru-RU" sz="1800" dirty="0"/>
              <a:t> для расчетов доходов, расходов и КФГ.</a:t>
            </a:r>
          </a:p>
          <a:p>
            <a:pPr marL="0" indent="0">
              <a:buNone/>
            </a:pPr>
            <a:r>
              <a:rPr lang="ru-RU" sz="1800" dirty="0"/>
              <a:t>4. Аналитика данных</a:t>
            </a:r>
          </a:p>
          <a:p>
            <a:r>
              <a:rPr lang="ru-RU" sz="1800" dirty="0"/>
              <a:t>Аналитик разработал алгоритмы для генерации персонализированных рекомендаций на основе введенных данных.</a:t>
            </a:r>
          </a:p>
          <a:p>
            <a:pPr marL="0" indent="0">
              <a:buNone/>
            </a:pPr>
            <a:r>
              <a:rPr lang="ru-RU" sz="1800" dirty="0"/>
              <a:t>5. Интеграция с ИИ</a:t>
            </a:r>
          </a:p>
          <a:p>
            <a:r>
              <a:rPr lang="ru-RU" sz="1800" dirty="0"/>
              <a:t>Специалист по ИИ настроил языковую модель на тему студенческих финансов и встроил чат-советника.</a:t>
            </a:r>
          </a:p>
          <a:p>
            <a:pPr marL="0" indent="0">
              <a:buNone/>
            </a:pPr>
            <a:r>
              <a:rPr lang="ru-RU" sz="1800" dirty="0"/>
              <a:t>6. Тестирование и практическая реализация </a:t>
            </a:r>
          </a:p>
          <a:p>
            <a:r>
              <a:rPr lang="ru-RU" sz="1800" dirty="0"/>
              <a:t>Вся команда проверила работу сервиса, исправила ошибки и опубликовала проект на </a:t>
            </a:r>
            <a:r>
              <a:rPr lang="ru-RU" sz="1800" dirty="0" err="1"/>
              <a:t>Git</a:t>
            </a:r>
            <a:r>
              <a:rPr lang="en-US" sz="1800" dirty="0"/>
              <a:t>Verse</a:t>
            </a:r>
            <a:r>
              <a:rPr lang="ru-RU" sz="1800" dirty="0"/>
              <a:t> </a:t>
            </a:r>
            <a:r>
              <a:rPr lang="ru-RU" sz="1800" dirty="0" err="1"/>
              <a:t>Pages</a:t>
            </a:r>
            <a:r>
              <a:rPr lang="ru-RU" sz="1800" dirty="0"/>
              <a:t>.</a:t>
            </a:r>
          </a:p>
          <a:p>
            <a:endParaRPr lang="ru-RU" sz="1200" dirty="0"/>
          </a:p>
          <a:p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6282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49BC34D-9C23-4D6D-8213-1F471AF85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A0F5D6C-5025-4D7E-82DD-C2C6FDA1E7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E2AF2C17-4AB4-4402-B84B-129EF95D16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F9A0C1C-8ABC-401B-8FE9-AC9327C4C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AA5F5F-B15C-FF1B-35CD-74E149252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6562" y="804136"/>
            <a:ext cx="3978875" cy="4766347"/>
          </a:xfr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en-US" sz="2800" cap="all" dirty="0" err="1"/>
              <a:t>Схема</a:t>
            </a:r>
            <a:r>
              <a:rPr lang="ru-RU" sz="2800" cap="all" dirty="0"/>
              <a:t> </a:t>
            </a:r>
            <a:br>
              <a:rPr lang="ru-RU" sz="2800" cap="all" dirty="0"/>
            </a:br>
            <a:r>
              <a:rPr lang="ru-RU" sz="2800" cap="all" dirty="0"/>
              <a:t>реализации</a:t>
            </a:r>
            <a:br>
              <a:rPr lang="ru-RU" sz="2800" cap="all" dirty="0"/>
            </a:br>
            <a:r>
              <a:rPr lang="ru-RU" sz="2800" cap="all" dirty="0"/>
              <a:t>проекта</a:t>
            </a:r>
            <a:endParaRPr lang="en-US" sz="2800" cap="all" dirty="0"/>
          </a:p>
        </p:txBody>
      </p:sp>
      <p:sp>
        <p:nvSpPr>
          <p:cNvPr id="16" name="Freeform 6">
            <a:extLst>
              <a:ext uri="{FF2B5EF4-FFF2-40B4-BE49-F238E27FC236}">
                <a16:creationId xmlns:a16="http://schemas.microsoft.com/office/drawing/2014/main" id="{BA5783C3-2F96-40A7-A24F-30CB07AA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649163" y="634028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8" name="Freeform 6">
            <a:extLst>
              <a:ext uri="{FF2B5EF4-FFF2-40B4-BE49-F238E27FC236}">
                <a16:creationId xmlns:a16="http://schemas.microsoft.com/office/drawing/2014/main" id="{A9D08DBA-0326-4C4E-ACFB-576F3ABDD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94670" y="2016617"/>
            <a:ext cx="3275013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8C0584A-58B0-1A27-A10A-FC4AB244B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483"/>
          <a:stretch>
            <a:fillRect/>
          </a:stretch>
        </p:blipFill>
        <p:spPr>
          <a:xfrm>
            <a:off x="1356777" y="1705043"/>
            <a:ext cx="5837323" cy="363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952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908" y="708571"/>
            <a:ext cx="5420519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625"/>
              </a:lnSpc>
            </a:pPr>
            <a:r>
              <a:rPr lang="en-US" sz="3708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Инвестиции в FinGrade</a:t>
            </a:r>
            <a:endParaRPr lang="en-US" sz="3708" dirty="0"/>
          </a:p>
        </p:txBody>
      </p:sp>
      <p:sp>
        <p:nvSpPr>
          <p:cNvPr id="3" name="Text 1"/>
          <p:cNvSpPr/>
          <p:nvPr/>
        </p:nvSpPr>
        <p:spPr>
          <a:xfrm>
            <a:off x="908918" y="1651248"/>
            <a:ext cx="108690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75"/>
              </a:lnSpc>
            </a:pPr>
            <a:r>
              <a:rPr lang="en-US" sz="20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Двухэтапная инвестиционная программа для запуска и масштабирования платформы.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859" y="2199952"/>
            <a:ext cx="3622973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504" y="3133824"/>
            <a:ext cx="236269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292"/>
              </a:lnSpc>
            </a:pPr>
            <a:r>
              <a:rPr lang="en-US" sz="1833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Этап 1 — ФСИ</a:t>
            </a:r>
            <a:endParaRPr lang="en-US" sz="1833" dirty="0"/>
          </a:p>
        </p:txBody>
      </p:sp>
      <p:sp>
        <p:nvSpPr>
          <p:cNvPr id="6" name="Text 3"/>
          <p:cNvSpPr/>
          <p:nvPr/>
        </p:nvSpPr>
        <p:spPr>
          <a:xfrm>
            <a:off x="850504" y="3542507"/>
            <a:ext cx="324494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75"/>
              </a:lnSpc>
            </a:pPr>
            <a:r>
              <a:rPr lang="ru-RU" sz="1458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1</a:t>
            </a:r>
            <a:r>
              <a:rPr lang="en-US" sz="1458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00 000 ₽</a:t>
            </a:r>
            <a:endParaRPr lang="en-US" sz="1458" dirty="0"/>
          </a:p>
        </p:txBody>
      </p:sp>
      <p:sp>
        <p:nvSpPr>
          <p:cNvPr id="7" name="Text 4"/>
          <p:cNvSpPr/>
          <p:nvPr/>
        </p:nvSpPr>
        <p:spPr>
          <a:xfrm>
            <a:off x="850504" y="3958332"/>
            <a:ext cx="3244949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Оборудование и аутсорс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Материалы и начисления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Заработная плата команды</a:t>
            </a:r>
            <a:endParaRPr lang="en-US" sz="1458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662" y="2199952"/>
            <a:ext cx="3622973" cy="7560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73476" y="3133824"/>
            <a:ext cx="236269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292"/>
              </a:lnSpc>
            </a:pPr>
            <a:r>
              <a:rPr lang="en-US" sz="1833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Результат этапа 1</a:t>
            </a:r>
            <a:endParaRPr lang="en-US" sz="1833" dirty="0"/>
          </a:p>
        </p:txBody>
      </p:sp>
      <p:sp>
        <p:nvSpPr>
          <p:cNvPr id="10" name="Text 6"/>
          <p:cNvSpPr/>
          <p:nvPr/>
        </p:nvSpPr>
        <p:spPr>
          <a:xfrm>
            <a:off x="4473476" y="3542507"/>
            <a:ext cx="3244949" cy="164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Лабораторная и полевая верификация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50 тестовых устройств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Документация для сертификации</a:t>
            </a:r>
            <a:endParaRPr lang="en-US" sz="1458" dirty="0"/>
          </a:p>
        </p:txBody>
      </p:sp>
      <p:sp>
        <p:nvSpPr>
          <p:cNvPr id="12" name="Text 7"/>
          <p:cNvSpPr/>
          <p:nvPr/>
        </p:nvSpPr>
        <p:spPr>
          <a:xfrm>
            <a:off x="8096449" y="3133824"/>
            <a:ext cx="32449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92"/>
              </a:lnSpc>
            </a:pPr>
            <a:r>
              <a:rPr lang="en-US" sz="1833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Этап 2 — Масштабирование</a:t>
            </a:r>
            <a:endParaRPr lang="en-US" sz="1833" dirty="0"/>
          </a:p>
        </p:txBody>
      </p:sp>
      <p:sp>
        <p:nvSpPr>
          <p:cNvPr id="13" name="Text 8"/>
          <p:cNvSpPr/>
          <p:nvPr/>
        </p:nvSpPr>
        <p:spPr>
          <a:xfrm>
            <a:off x="8096449" y="3837781"/>
            <a:ext cx="324494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75"/>
              </a:lnSpc>
            </a:pPr>
            <a:r>
              <a:rPr lang="ru-RU" sz="1458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5</a:t>
            </a:r>
            <a:r>
              <a:rPr lang="en-US" sz="1458" b="1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00 000 ₽</a:t>
            </a:r>
            <a:endParaRPr lang="en-US" sz="1458" dirty="0"/>
          </a:p>
        </p:txBody>
      </p:sp>
      <p:sp>
        <p:nvSpPr>
          <p:cNvPr id="14" name="Text 9"/>
          <p:cNvSpPr/>
          <p:nvPr/>
        </p:nvSpPr>
        <p:spPr>
          <a:xfrm>
            <a:off x="8096449" y="4253607"/>
            <a:ext cx="3244949" cy="171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Выпуск 500–700 устройств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Сборка и логистика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Выход на рынки РФ, Казахстана, Беларуси, Сербии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Маркетинг и продвижение</a:t>
            </a:r>
            <a:endParaRPr lang="en-US" sz="1458" dirty="0"/>
          </a:p>
        </p:txBody>
      </p:sp>
    </p:spTree>
    <p:extLst>
      <p:ext uri="{BB962C8B-B14F-4D97-AF65-F5344CB8AC3E}">
        <p14:creationId xmlns:p14="http://schemas.microsoft.com/office/powerpoint/2010/main" val="1371188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9"/>
          <p:cNvSpPr/>
          <p:nvPr/>
        </p:nvSpPr>
        <p:spPr>
          <a:xfrm>
            <a:off x="875326" y="1927932"/>
            <a:ext cx="4282829" cy="3792713"/>
          </a:xfrm>
          <a:prstGeom prst="roundRect">
            <a:avLst>
              <a:gd name="adj" fmla="val 4862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" name="Text 0"/>
          <p:cNvSpPr/>
          <p:nvPr/>
        </p:nvSpPr>
        <p:spPr>
          <a:xfrm>
            <a:off x="875326" y="782639"/>
            <a:ext cx="7062589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667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Источники дохода FinGrade</a:t>
            </a:r>
            <a:endParaRPr lang="en-US" sz="3667" dirty="0"/>
          </a:p>
        </p:txBody>
      </p:sp>
      <p:sp>
        <p:nvSpPr>
          <p:cNvPr id="6" name="Text 4"/>
          <p:cNvSpPr/>
          <p:nvPr/>
        </p:nvSpPr>
        <p:spPr>
          <a:xfrm>
            <a:off x="1495662" y="2174613"/>
            <a:ext cx="201058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30303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Партнёрские комиссии (CPA)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73658" y="2780615"/>
            <a:ext cx="2886165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867" dirty="0">
                <a:solidFill>
                  <a:srgbClr val="000000"/>
                </a:solidFill>
                <a:latin typeface="Times New Roman" panose="02020603050405020304" pitchFamily="18" charset="0"/>
                <a:ea typeface="Inter Medium" pitchFamily="34" charset="-122"/>
                <a:cs typeface="Times New Roman" panose="02020603050405020304" pitchFamily="18" charset="0"/>
              </a:rPr>
              <a:t>Комиссия за целевые действия пользователей: переходы на маркетплейсы, сервисы доставки и EdTech-платформы. Монетизация без прямой оплаты от пользователя.</a:t>
            </a:r>
            <a:endParaRPr lang="en-US" sz="18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13154" y="1913658"/>
            <a:ext cx="3197683" cy="3789157"/>
          </a:xfrm>
          <a:prstGeom prst="roundRect">
            <a:avLst>
              <a:gd name="adj" fmla="val 4862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066701" y="2174612"/>
            <a:ext cx="2002433" cy="590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Подписка Premium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010778" y="2765163"/>
            <a:ext cx="2002433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867" dirty="0">
                <a:solidFill>
                  <a:srgbClr val="464646"/>
                </a:solidFill>
                <a:latin typeface="Times New Roman" panose="02020603050405020304" pitchFamily="18" charset="0"/>
                <a:ea typeface="Inter Medium" pitchFamily="34" charset="-122"/>
                <a:cs typeface="Times New Roman" panose="02020603050405020304" pitchFamily="18" charset="0"/>
              </a:rPr>
              <a:t>Расширенный ИИ-ассистент и премиум-функции за </a:t>
            </a:r>
            <a:r>
              <a:rPr lang="en-US" sz="1867" b="1" dirty="0">
                <a:solidFill>
                  <a:srgbClr val="464646"/>
                </a:solidFill>
                <a:latin typeface="Times New Roman" panose="02020603050405020304" pitchFamily="18" charset="0"/>
                <a:ea typeface="Inter Medium" pitchFamily="34" charset="-122"/>
                <a:cs typeface="Times New Roman" panose="02020603050405020304" pitchFamily="18" charset="0"/>
              </a:rPr>
              <a:t>199 ₽/мес</a:t>
            </a:r>
            <a:endParaRPr lang="en-US" sz="18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773244" y="1913658"/>
            <a:ext cx="2839561" cy="3699280"/>
          </a:xfrm>
          <a:prstGeom prst="roundRect">
            <a:avLst>
              <a:gd name="adj" fmla="val 4862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9320016" y="2190065"/>
            <a:ext cx="2002433" cy="590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464646"/>
                </a:solidFill>
                <a:latin typeface="DM Sans Semi Bold" pitchFamily="34" charset="0"/>
                <a:ea typeface="DM Sans Semi Bold" pitchFamily="34" charset="-122"/>
                <a:cs typeface="DM Sans Semi Bold" pitchFamily="34" charset="-120"/>
              </a:rPr>
              <a:t>Лицензирование вузам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447965" y="2799637"/>
            <a:ext cx="2002433" cy="1814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867" dirty="0">
                <a:solidFill>
                  <a:srgbClr val="464646"/>
                </a:solidFill>
                <a:latin typeface="Times New Roman" panose="02020603050405020304" pitchFamily="18" charset="0"/>
                <a:ea typeface="Inter Medium" pitchFamily="34" charset="-122"/>
                <a:cs typeface="Times New Roman" panose="02020603050405020304" pitchFamily="18" charset="0"/>
              </a:rPr>
              <a:t>Продажа права на использование FinGrade как инструмента финансовой грамотности</a:t>
            </a:r>
            <a:endParaRPr lang="en-US" sz="18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456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D9D6BF1-DFF2-4526-9D13-BF339D8C4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A54D4DB6-FB18-4CAE-8905-E0053C925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0" name="Freeform 6">
              <a:extLst>
                <a:ext uri="{FF2B5EF4-FFF2-40B4-BE49-F238E27FC236}">
                  <a16:creationId xmlns:a16="http://schemas.microsoft.com/office/drawing/2014/main" id="{1DBD6488-9429-4FFA-8AE8-C4022C39B0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7BB74091-09FE-44AF-8325-7FE6E175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0D7ECC-55A7-24DB-5E44-1F524FE695D2}"/>
              </a:ext>
            </a:extLst>
          </p:cNvPr>
          <p:cNvSpPr txBox="1"/>
          <p:nvPr/>
        </p:nvSpPr>
        <p:spPr>
          <a:xfrm>
            <a:off x="752858" y="4736961"/>
            <a:ext cx="10720685" cy="93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cap="all">
                <a:solidFill>
                  <a:schemeClr val="tx2"/>
                </a:solidFill>
                <a:latin typeface="+mj-lt"/>
                <a:ea typeface="+mj-ea"/>
                <a:cs typeface="+mj-cs"/>
              </a:rPr>
              <a:t>Партнерские программы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AF99094-0FCF-1A9B-FC2B-CE77B2877B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" r="13043"/>
          <a:stretch>
            <a:fillRect/>
          </a:stretch>
        </p:blipFill>
        <p:spPr>
          <a:xfrm>
            <a:off x="20" y="10"/>
            <a:ext cx="12191980" cy="4187119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F30CCEB-94C4-4F72-BA5A-9CEA85302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434936" y="4446551"/>
            <a:ext cx="1957171" cy="1103687"/>
          </a:xfrm>
          <a:custGeom>
            <a:avLst/>
            <a:gdLst>
              <a:gd name="connsiteX0" fmla="*/ 2017702 w 2017702"/>
              <a:gd name="connsiteY0" fmla="*/ 1137821 h 1137821"/>
              <a:gd name="connsiteX1" fmla="*/ 404 w 2017702"/>
              <a:gd name="connsiteY1" fmla="*/ 1137821 h 1137821"/>
              <a:gd name="connsiteX2" fmla="*/ 0 w 2017702"/>
              <a:gd name="connsiteY2" fmla="*/ 900216 h 1137821"/>
              <a:gd name="connsiteX3" fmla="*/ 1767759 w 2017702"/>
              <a:gd name="connsiteY3" fmla="*/ 901031 h 1137821"/>
              <a:gd name="connsiteX4" fmla="*/ 1767759 w 2017702"/>
              <a:gd name="connsiteY4" fmla="*/ 0 h 1137821"/>
              <a:gd name="connsiteX5" fmla="*/ 2017702 w 2017702"/>
              <a:gd name="connsiteY5" fmla="*/ 0 h 113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702" h="1137821">
                <a:moveTo>
                  <a:pt x="2017702" y="1137821"/>
                </a:moveTo>
                <a:lnTo>
                  <a:pt x="404" y="1137821"/>
                </a:lnTo>
                <a:cubicBezTo>
                  <a:pt x="-404" y="1055814"/>
                  <a:pt x="807" y="982224"/>
                  <a:pt x="0" y="900216"/>
                </a:cubicBezTo>
                <a:lnTo>
                  <a:pt x="1767759" y="901031"/>
                </a:lnTo>
                <a:lnTo>
                  <a:pt x="1767759" y="0"/>
                </a:lnTo>
                <a:lnTo>
                  <a:pt x="2017702" y="0"/>
                </a:lnTo>
                <a:close/>
              </a:path>
            </a:pathLst>
          </a:custGeom>
          <a:solidFill>
            <a:schemeClr val="tx2">
              <a:alpha val="8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DE1A94F-CC8B-4954-97A7-ADD4F300D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9796837" y="5311230"/>
            <a:ext cx="2042265" cy="1213486"/>
          </a:xfrm>
          <a:custGeom>
            <a:avLst/>
            <a:gdLst>
              <a:gd name="connsiteX0" fmla="*/ 1844618 w 2105428"/>
              <a:gd name="connsiteY0" fmla="*/ 0 h 1251016"/>
              <a:gd name="connsiteX1" fmla="*/ 2105428 w 2105428"/>
              <a:gd name="connsiteY1" fmla="*/ 0 h 1251016"/>
              <a:gd name="connsiteX2" fmla="*/ 2105428 w 2105428"/>
              <a:gd name="connsiteY2" fmla="*/ 1251016 h 1251016"/>
              <a:gd name="connsiteX3" fmla="*/ 421 w 2105428"/>
              <a:gd name="connsiteY3" fmla="*/ 1251016 h 1251016"/>
              <a:gd name="connsiteX4" fmla="*/ 0 w 2105428"/>
              <a:gd name="connsiteY4" fmla="*/ 1003081 h 1251016"/>
              <a:gd name="connsiteX5" fmla="*/ 1844618 w 2105428"/>
              <a:gd name="connsiteY5" fmla="*/ 1003931 h 1251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5428" h="1251016">
                <a:moveTo>
                  <a:pt x="1844618" y="0"/>
                </a:moveTo>
                <a:lnTo>
                  <a:pt x="2105428" y="0"/>
                </a:lnTo>
                <a:lnTo>
                  <a:pt x="2105428" y="1251016"/>
                </a:lnTo>
                <a:lnTo>
                  <a:pt x="421" y="1251016"/>
                </a:lnTo>
                <a:cubicBezTo>
                  <a:pt x="-421" y="1165443"/>
                  <a:pt x="842" y="1088654"/>
                  <a:pt x="0" y="1003081"/>
                </a:cubicBezTo>
                <a:lnTo>
                  <a:pt x="1844618" y="1003931"/>
                </a:lnTo>
                <a:close/>
              </a:path>
            </a:pathLst>
          </a:custGeom>
          <a:solidFill>
            <a:schemeClr val="tx2">
              <a:alpha val="8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908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793B903-AB42-42A0-AE97-93D366679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F89C22-0475-4427-B7C8-0269AD40E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A9E1E04-191C-70F2-CE26-8C815A291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648580"/>
              </p:ext>
            </p:extLst>
          </p:nvPr>
        </p:nvGraphicFramePr>
        <p:xfrm>
          <a:off x="1480486" y="1348845"/>
          <a:ext cx="9231028" cy="4160309"/>
        </p:xfrm>
        <a:graphic>
          <a:graphicData uri="http://schemas.openxmlformats.org/drawingml/2006/table">
            <a:tbl>
              <a:tblPr/>
              <a:tblGrid>
                <a:gridCol w="5127738">
                  <a:extLst>
                    <a:ext uri="{9D8B030D-6E8A-4147-A177-3AD203B41FA5}">
                      <a16:colId xmlns:a16="http://schemas.microsoft.com/office/drawing/2014/main" val="793960082"/>
                    </a:ext>
                  </a:extLst>
                </a:gridCol>
                <a:gridCol w="4103290">
                  <a:extLst>
                    <a:ext uri="{9D8B030D-6E8A-4147-A177-3AD203B41FA5}">
                      <a16:colId xmlns:a16="http://schemas.microsoft.com/office/drawing/2014/main" val="3902073187"/>
                    </a:ext>
                  </a:extLst>
                </a:gridCol>
              </a:tblGrid>
              <a:tr h="480920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0" i="0" u="none" strike="noStrike" dirty="0">
                          <a:effectLst/>
                          <a:latin typeface="quote-cjk-patch"/>
                        </a:rPr>
                        <a:t>Показатель</a:t>
                      </a:r>
                      <a:endParaRPr lang="ru-RU" sz="1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0" i="0" u="none" strike="noStrike">
                          <a:effectLst/>
                          <a:latin typeface="quote-cjk-patch"/>
                        </a:rPr>
                        <a:t>Значение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3910398"/>
                  </a:ext>
                </a:extLst>
              </a:tr>
              <a:tr h="74554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1700" b="1" i="0" u="none" strike="noStrike">
                          <a:effectLst/>
                          <a:latin typeface="quote-cjk-patch"/>
                        </a:rPr>
                        <a:t>CAC</a:t>
                      </a:r>
                      <a:r>
                        <a:rPr lang="en-US" sz="1700" b="0" i="0" u="none" strike="noStrike">
                          <a:effectLst/>
                          <a:latin typeface="quote-cjk-patch"/>
                        </a:rPr>
                        <a:t> (</a:t>
                      </a:r>
                      <a:r>
                        <a:rPr lang="ru-RU" sz="1700" b="0" i="0" u="none" strike="noStrike">
                          <a:effectLst/>
                          <a:latin typeface="quote-cjk-patch"/>
                        </a:rPr>
                        <a:t>стоимость привлечения клиента)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>
                          <a:effectLst/>
                          <a:latin typeface="quote-cjk-patch"/>
                        </a:rPr>
                        <a:t>100 ₽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4013364"/>
                  </a:ext>
                </a:extLst>
              </a:tr>
              <a:tr h="74554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>
                          <a:effectLst/>
                          <a:latin typeface="quote-cjk-patch"/>
                        </a:rPr>
                        <a:t>LTV</a:t>
                      </a:r>
                      <a:r>
                        <a:rPr lang="ru-RU" sz="1700" b="0" i="0" u="none" strike="noStrike">
                          <a:effectLst/>
                          <a:latin typeface="quote-cjk-patch"/>
                        </a:rPr>
                        <a:t> (доход от клиента за всё время)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 dirty="0">
                          <a:effectLst/>
                          <a:latin typeface="quote-cjk-patch"/>
                        </a:rPr>
                        <a:t>480 ₽</a:t>
                      </a:r>
                      <a:endParaRPr lang="ru-RU" sz="1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7898438"/>
                  </a:ext>
                </a:extLst>
              </a:tr>
              <a:tr h="480920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1700" b="1" i="0" u="none" strike="noStrike">
                          <a:effectLst/>
                          <a:latin typeface="quote-cjk-patch"/>
                        </a:rPr>
                        <a:t>LTV / CAC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 dirty="0">
                          <a:effectLst/>
                          <a:latin typeface="quote-cjk-patch"/>
                        </a:rPr>
                        <a:t>в 4 раза</a:t>
                      </a:r>
                      <a:endParaRPr lang="ru-RU" sz="1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6709204"/>
                  </a:ext>
                </a:extLst>
              </a:tr>
              <a:tr h="480920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1700" b="1" i="0" u="none" strike="noStrike">
                          <a:effectLst/>
                          <a:latin typeface="quote-cjk-patch"/>
                        </a:rPr>
                        <a:t>Retention (M1)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>
                          <a:effectLst/>
                          <a:latin typeface="quote-cjk-patch"/>
                        </a:rPr>
                        <a:t>70%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708202"/>
                  </a:ext>
                </a:extLst>
              </a:tr>
              <a:tr h="480920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1700" b="1" i="0" u="none" strike="noStrike">
                          <a:effectLst/>
                          <a:latin typeface="quote-cjk-patch"/>
                        </a:rPr>
                        <a:t>Churn (</a:t>
                      </a:r>
                      <a:r>
                        <a:rPr lang="ru-RU" sz="1700" b="1" i="0" u="none" strike="noStrike">
                          <a:effectLst/>
                          <a:latin typeface="quote-cjk-patch"/>
                        </a:rPr>
                        <a:t>месячный)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>
                          <a:effectLst/>
                          <a:latin typeface="quote-cjk-patch"/>
                        </a:rPr>
                        <a:t>8%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003248"/>
                  </a:ext>
                </a:extLst>
              </a:tr>
              <a:tr h="74554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1700" b="1" i="0" u="none" strike="noStrike">
                          <a:effectLst/>
                          <a:latin typeface="quote-cjk-patch"/>
                        </a:rPr>
                        <a:t>Payback</a:t>
                      </a:r>
                      <a:r>
                        <a:rPr lang="en-US" sz="1700" b="0" i="0" u="none" strike="noStrike">
                          <a:effectLst/>
                          <a:latin typeface="quote-cjk-patch"/>
                        </a:rPr>
                        <a:t> (</a:t>
                      </a:r>
                      <a:r>
                        <a:rPr lang="ru-RU" sz="1700" b="0" i="0" u="none" strike="noStrike">
                          <a:effectLst/>
                          <a:latin typeface="quote-cjk-patch"/>
                        </a:rPr>
                        <a:t>срок окупаемости)</a:t>
                      </a:r>
                      <a:endParaRPr lang="ru-RU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390" marR="113853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ru-RU" sz="1700" b="1" i="0" u="none" strike="noStrike" dirty="0">
                          <a:effectLst/>
                          <a:latin typeface="quote-cjk-patch"/>
                        </a:rPr>
                        <a:t>2,5 месяца</a:t>
                      </a:r>
                      <a:endParaRPr lang="ru-RU" sz="1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3853" marR="85390" marT="71158" marB="71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82269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BD7317-43A2-5618-658F-6AA29BFB044A}"/>
              </a:ext>
            </a:extLst>
          </p:cNvPr>
          <p:cNvSpPr txBox="1"/>
          <p:nvPr/>
        </p:nvSpPr>
        <p:spPr>
          <a:xfrm>
            <a:off x="1540042" y="312821"/>
            <a:ext cx="82857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Источники коммерциализации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635440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/>
          <a:srcRect l="71488" t="18603" r="2798" b="40000"/>
          <a:stretch/>
        </p:blipFill>
        <p:spPr>
          <a:xfrm>
            <a:off x="1524001" y="2143121"/>
            <a:ext cx="2819400" cy="292417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72396" t="24501" r="2841" b="39308"/>
          <a:stretch/>
        </p:blipFill>
        <p:spPr>
          <a:xfrm>
            <a:off x="4976813" y="2143120"/>
            <a:ext cx="2943225" cy="292417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4"/>
          <a:srcRect l="72125" t="15048" r="3769" b="46852"/>
          <a:stretch/>
        </p:blipFill>
        <p:spPr>
          <a:xfrm>
            <a:off x="8429624" y="2190750"/>
            <a:ext cx="2895601" cy="2876545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2113746" y="1391722"/>
            <a:ext cx="136287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5378395" y="1391722"/>
            <a:ext cx="15254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err="1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GitVerse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8845496" y="1391722"/>
            <a:ext cx="168026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FinGrade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702054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Уголки</Template>
  <TotalTime>390</TotalTime>
  <Words>519</Words>
  <Application>Microsoft Office PowerPoint</Application>
  <PresentationFormat>Широкоэкранный</PresentationFormat>
  <Paragraphs>83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Arial</vt:lpstr>
      <vt:lpstr>Calibri</vt:lpstr>
      <vt:lpstr>DM Sans Semi Bold</vt:lpstr>
      <vt:lpstr>Franklin Gothic Book</vt:lpstr>
      <vt:lpstr>Inter Medium</vt:lpstr>
      <vt:lpstr>quote-cjk-patch</vt:lpstr>
      <vt:lpstr>Times New Roman</vt:lpstr>
      <vt:lpstr>Crop</vt:lpstr>
      <vt:lpstr>Проект по дисциплине:”технологиИ разработки интернет-приложений”</vt:lpstr>
      <vt:lpstr>Обоснование выбора темы</vt:lpstr>
      <vt:lpstr>Gartner 2026</vt:lpstr>
      <vt:lpstr>Чек – лист </vt:lpstr>
      <vt:lpstr>Схема  реализации проекта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по дисциплине:”технология разработки интернет-приложений”</dc:title>
  <dc:creator>Viktoria</dc:creator>
  <cp:lastModifiedBy>a22748</cp:lastModifiedBy>
  <cp:revision>30</cp:revision>
  <dcterms:created xsi:type="dcterms:W3CDTF">2026-02-19T09:48:52Z</dcterms:created>
  <dcterms:modified xsi:type="dcterms:W3CDTF">2026-05-18T11:10:09Z</dcterms:modified>
</cp:coreProperties>
</file>