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2" r:id="rId6"/>
    <p:sldId id="264" r:id="rId7"/>
    <p:sldId id="265" r:id="rId8"/>
    <p:sldId id="261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>
      <p:cViewPr varScale="1">
        <p:scale>
          <a:sx n="95" d="100"/>
          <a:sy n="95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F0C2A4-6083-4132-8296-02C81DA9B700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35690-6692-453B-B21B-348EF862F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69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904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987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266087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148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599603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0299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7821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802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24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54976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011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450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9704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277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EC5D06DA-14FE-419D-8BE0-B8AD9D8EFA32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0C1FBCFA-4F7D-4F95-8E7D-88DF9595B17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93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51069" y="1169889"/>
            <a:ext cx="9109152" cy="2098226"/>
          </a:xfrm>
        </p:spPr>
        <p:txBody>
          <a:bodyPr/>
          <a:lstStyle/>
          <a:p>
            <a:r>
              <a:rPr lang="ru-RU" sz="4000" dirty="0"/>
              <a:t>Проект по дисциплине</a:t>
            </a:r>
            <a:r>
              <a:rPr lang="en-US" sz="4000" dirty="0"/>
              <a:t>:”</a:t>
            </a:r>
            <a:r>
              <a:rPr lang="ru-RU" sz="4000" dirty="0" err="1"/>
              <a:t>технологиИ</a:t>
            </a:r>
            <a:r>
              <a:rPr lang="ru-RU" sz="4000" dirty="0"/>
              <a:t> разработки интернет-приложений</a:t>
            </a:r>
            <a:r>
              <a:rPr lang="en-US" sz="4000" dirty="0"/>
              <a:t>”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9906" y="3340249"/>
            <a:ext cx="6831673" cy="1124175"/>
          </a:xfrm>
        </p:spPr>
        <p:txBody>
          <a:bodyPr/>
          <a:lstStyle/>
          <a:p>
            <a:r>
              <a:rPr lang="ru-RU" dirty="0"/>
              <a:t>По теме</a:t>
            </a:r>
            <a:r>
              <a:rPr lang="en-US" dirty="0"/>
              <a:t>: “</a:t>
            </a:r>
            <a:r>
              <a:rPr lang="ru-RU" dirty="0"/>
              <a:t>Разработка персонального финансового консультанта для студентов на основе рейтингов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811673" y="4464424"/>
            <a:ext cx="598086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dirty="0"/>
              <a:t>Ведущий разработчик ООО </a:t>
            </a:r>
            <a:r>
              <a:rPr lang="en-US" dirty="0"/>
              <a:t>“</a:t>
            </a:r>
            <a:r>
              <a:rPr lang="en-US" dirty="0" err="1"/>
              <a:t>FinGrade</a:t>
            </a:r>
            <a:r>
              <a:rPr lang="en-US" dirty="0"/>
              <a:t>”:</a:t>
            </a:r>
            <a:r>
              <a:rPr lang="ru-RU" dirty="0"/>
              <a:t> Яковец А.</a:t>
            </a:r>
          </a:p>
          <a:p>
            <a:r>
              <a:rPr lang="ru-RU" dirty="0"/>
              <a:t>Специалист по искусственному интеллекту</a:t>
            </a:r>
            <a:r>
              <a:rPr lang="en-US" dirty="0"/>
              <a:t>:</a:t>
            </a:r>
            <a:r>
              <a:rPr lang="ru-RU" dirty="0" err="1"/>
              <a:t>Молостова</a:t>
            </a:r>
            <a:r>
              <a:rPr lang="ru-RU" dirty="0"/>
              <a:t> В.А.</a:t>
            </a:r>
          </a:p>
          <a:p>
            <a:r>
              <a:rPr lang="ru-RU" dirty="0"/>
              <a:t>Аналитик  данных и дизайнер</a:t>
            </a:r>
            <a:r>
              <a:rPr lang="en-US" dirty="0"/>
              <a:t>:</a:t>
            </a:r>
            <a:r>
              <a:rPr lang="ru-RU" dirty="0" err="1"/>
              <a:t>Новосельская</a:t>
            </a:r>
            <a:r>
              <a:rPr lang="ru-RU" dirty="0"/>
              <a:t> К.Д.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2422738" y="5684459"/>
            <a:ext cx="54467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dirty="0"/>
              <a:t>Кафедра</a:t>
            </a:r>
            <a:r>
              <a:rPr lang="en-US" dirty="0"/>
              <a:t>: </a:t>
            </a:r>
            <a:r>
              <a:rPr lang="ru-RU" dirty="0"/>
              <a:t>Автоматизированные системы управления</a:t>
            </a:r>
          </a:p>
          <a:p>
            <a:pPr algn="ctr"/>
            <a:r>
              <a:rPr lang="ru-RU" dirty="0"/>
              <a:t>2026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92619" y="25826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МОСКОВСКИЙ АВТОМОБИЛЬНО-ДОРОЖНЫЙ</a:t>
            </a: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ГОСУДАРСТВЕННЫЙ ТЕХНИЧЕСКИЙ УНИВЕРСИТЕТ (МАДИ)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4005" y="306397"/>
            <a:ext cx="1075764" cy="86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84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231289"/>
            <a:ext cx="9601200" cy="704626"/>
          </a:xfrm>
        </p:spPr>
        <p:txBody>
          <a:bodyPr/>
          <a:lstStyle/>
          <a:p>
            <a:r>
              <a:rPr lang="ru-RU" dirty="0"/>
              <a:t>Обоснование выбора 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71600" y="935915"/>
            <a:ext cx="9601200" cy="5534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/>
              <a:t>Актуальность проблемы: </a:t>
            </a:r>
          </a:p>
          <a:p>
            <a:pPr marL="0" indent="0">
              <a:buNone/>
            </a:pPr>
            <a:r>
              <a:rPr lang="ru-RU" sz="1800" dirty="0"/>
              <a:t>Студенчество как социальная группа характеризуется ограниченными возможностями финансовых ресурсов и отсутствием навыков бюджетирования. Нерациональное распределение ограниченных доходов (стипендия, подработки) приводит к устойчивому бюджетному дисбалансу и росту финансового стресса.</a:t>
            </a:r>
          </a:p>
          <a:p>
            <a:pPr marL="0" indent="0">
              <a:buNone/>
            </a:pPr>
            <a:r>
              <a:rPr lang="ru-RU" sz="2800" b="1" dirty="0"/>
              <a:t>Идея проекта: </a:t>
            </a:r>
          </a:p>
          <a:p>
            <a:pPr marL="0" indent="0">
              <a:buNone/>
            </a:pPr>
            <a:r>
              <a:rPr lang="ru-RU" sz="1800" dirty="0"/>
              <a:t>Создание цифрового инструмента для повышения финансовой грамотности студентов.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426" y="3951064"/>
            <a:ext cx="3131334" cy="2519661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371599" y="3703320"/>
            <a:ext cx="7292827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/>
              <a:t>Главные задачи помощника:</a:t>
            </a:r>
          </a:p>
          <a:p>
            <a:endParaRPr lang="ru-RU" dirty="0"/>
          </a:p>
          <a:p>
            <a:r>
              <a:rPr lang="ru-RU" sz="2000" dirty="0"/>
              <a:t>1. Визуализация структуры расходов по категориям.</a:t>
            </a:r>
          </a:p>
          <a:p>
            <a:r>
              <a:rPr lang="ru-RU" sz="2000" dirty="0"/>
              <a:t>2. Расчет Коэффициента Финансовой Грамотности (КФГ) для оценки сбалансированности бюджета.</a:t>
            </a:r>
          </a:p>
          <a:p>
            <a:r>
              <a:rPr lang="ru-RU" sz="2000" dirty="0"/>
              <a:t>3. Предоставление персонализированных рекомендаций и доступа к ИИ-консультанту по финансам.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3322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1600" y="285078"/>
            <a:ext cx="9601200" cy="10434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191B0E"/>
                </a:solidFill>
              </a:rPr>
              <a:t>Gartner 2026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71600" y="1399579"/>
            <a:ext cx="3948056" cy="720329"/>
          </a:xfrm>
        </p:spPr>
        <p:txBody>
          <a:bodyPr/>
          <a:lstStyle/>
          <a:p>
            <a:r>
              <a:rPr lang="ru-RU" b="1" dirty="0" err="1"/>
              <a:t>Мультиагентные</a:t>
            </a:r>
            <a:r>
              <a:rPr lang="ru-RU" b="1" dirty="0"/>
              <a:t> системы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244256" y="2119908"/>
            <a:ext cx="4202744" cy="4286923"/>
          </a:xfrm>
        </p:spPr>
        <p:txBody>
          <a:bodyPr>
            <a:noAutofit/>
          </a:bodyPr>
          <a:lstStyle/>
          <a:p>
            <a:r>
              <a:rPr lang="ru-RU" sz="1900" dirty="0"/>
              <a:t>Агент-аналитик обрабатывает введенные пользователем данные о доходах и расходах, рассчитывает остаток и Коэффициент Финансовой Грамотности (КФГ).</a:t>
            </a:r>
          </a:p>
          <a:p>
            <a:r>
              <a:rPr lang="ru-RU" sz="1900" dirty="0"/>
              <a:t>Агент-советник (чат) на основе этих данных и запросов пользователя генерирует персонализированные текстовые рекомендации.</a:t>
            </a:r>
          </a:p>
          <a:p>
            <a:r>
              <a:rPr lang="ru-RU" sz="1900" dirty="0"/>
              <a:t>Вместе они решают комплексную задачу, недоступную одному агенту — дают не просто статистику, а готовый финансовый совет.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613" y="1610343"/>
            <a:ext cx="6485786" cy="4871141"/>
          </a:xfrm>
          <a:prstGeom prst="rect">
            <a:avLst/>
          </a:prstGeom>
        </p:spPr>
      </p:pic>
      <p:sp>
        <p:nvSpPr>
          <p:cNvPr id="13" name="Скругленный прямоугольник 12"/>
          <p:cNvSpPr/>
          <p:nvPr/>
        </p:nvSpPr>
        <p:spPr>
          <a:xfrm>
            <a:off x="7551868" y="2673275"/>
            <a:ext cx="2226833" cy="3049793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540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42508" y="188259"/>
            <a:ext cx="9601200" cy="715383"/>
          </a:xfrm>
        </p:spPr>
        <p:txBody>
          <a:bodyPr/>
          <a:lstStyle/>
          <a:p>
            <a:r>
              <a:rPr lang="ru-RU" b="1" dirty="0"/>
              <a:t>Чек – лист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32734" y="995082"/>
            <a:ext cx="11118028" cy="55509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1. Анализ и концепция</a:t>
            </a:r>
          </a:p>
          <a:p>
            <a:r>
              <a:rPr lang="ru-RU" sz="1800" dirty="0"/>
              <a:t>Изучили потребности студентов, определили метрики (доходы, расходы, КФГ), распределили роли в команде.</a:t>
            </a:r>
          </a:p>
          <a:p>
            <a:pPr marL="0" indent="0">
              <a:buNone/>
            </a:pPr>
            <a:r>
              <a:rPr lang="ru-RU" sz="1800" dirty="0"/>
              <a:t>2. Дизайн-макет</a:t>
            </a:r>
          </a:p>
          <a:p>
            <a:r>
              <a:rPr lang="ru-RU" sz="1800" dirty="0"/>
              <a:t>Дизайнер создал прототип интерфейса: структуру страницы, расположение блоков, цветовую гамму.</a:t>
            </a:r>
          </a:p>
          <a:p>
            <a:pPr marL="0" indent="0">
              <a:buNone/>
            </a:pPr>
            <a:r>
              <a:rPr lang="ru-RU" sz="1800" dirty="0"/>
              <a:t>3. Верстка и логика</a:t>
            </a:r>
          </a:p>
          <a:p>
            <a:r>
              <a:rPr lang="ru-RU" sz="1800" dirty="0"/>
              <a:t>Разработчик сверстал сайт (HTML/CSS) и написал </a:t>
            </a:r>
            <a:r>
              <a:rPr lang="ru-RU" sz="1800" dirty="0" err="1"/>
              <a:t>JavaScript</a:t>
            </a:r>
            <a:r>
              <a:rPr lang="ru-RU" sz="1800" dirty="0"/>
              <a:t> для расчетов доходов, расходов и КФГ.</a:t>
            </a:r>
          </a:p>
          <a:p>
            <a:pPr marL="0" indent="0">
              <a:buNone/>
            </a:pPr>
            <a:r>
              <a:rPr lang="ru-RU" sz="1800" dirty="0"/>
              <a:t>4. Аналитика данных</a:t>
            </a:r>
          </a:p>
          <a:p>
            <a:r>
              <a:rPr lang="ru-RU" sz="1800" dirty="0"/>
              <a:t>Аналитик разработал алгоритмы для генерации персонализированных рекомендаций на основе введенных данных.</a:t>
            </a:r>
          </a:p>
          <a:p>
            <a:pPr marL="0" indent="0">
              <a:buNone/>
            </a:pPr>
            <a:r>
              <a:rPr lang="ru-RU" sz="1800" dirty="0"/>
              <a:t>5. Интеграция с ИИ</a:t>
            </a:r>
          </a:p>
          <a:p>
            <a:r>
              <a:rPr lang="ru-RU" sz="1800" dirty="0"/>
              <a:t>Специалист по ИИ настроил языковую модель на тему студенческих финансов и встроил чат-советника.</a:t>
            </a:r>
          </a:p>
          <a:p>
            <a:pPr marL="0" indent="0">
              <a:buNone/>
            </a:pPr>
            <a:r>
              <a:rPr lang="ru-RU" sz="1800" dirty="0"/>
              <a:t>6. Тестирование и практическая реализация </a:t>
            </a:r>
          </a:p>
          <a:p>
            <a:r>
              <a:rPr lang="ru-RU" sz="1800" dirty="0"/>
              <a:t>Вся команда проверила работу сервиса, исправила ошибки и опубликовала проект на </a:t>
            </a:r>
            <a:r>
              <a:rPr lang="ru-RU" sz="1800" dirty="0" err="1"/>
              <a:t>Git</a:t>
            </a:r>
            <a:r>
              <a:rPr lang="en-US" sz="1800" dirty="0"/>
              <a:t>Verse</a:t>
            </a:r>
            <a:r>
              <a:rPr lang="ru-RU" sz="1800" dirty="0"/>
              <a:t> </a:t>
            </a:r>
            <a:r>
              <a:rPr lang="ru-RU" sz="1800" dirty="0" err="1"/>
              <a:t>Pages</a:t>
            </a:r>
            <a:r>
              <a:rPr lang="ru-RU" sz="1800" dirty="0"/>
              <a:t>.</a:t>
            </a:r>
          </a:p>
          <a:p>
            <a:endParaRPr lang="ru-RU" sz="1200" dirty="0"/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256282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2908" y="708571"/>
            <a:ext cx="542051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Инвестиции в FinGrade</a:t>
            </a:r>
            <a:endParaRPr lang="en-US" sz="3708" dirty="0"/>
          </a:p>
        </p:txBody>
      </p:sp>
      <p:sp>
        <p:nvSpPr>
          <p:cNvPr id="3" name="Text 1"/>
          <p:cNvSpPr/>
          <p:nvPr/>
        </p:nvSpPr>
        <p:spPr>
          <a:xfrm>
            <a:off x="908918" y="1651248"/>
            <a:ext cx="108690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Двухэтапная инвестиционная программа для запуска и масштабирования платформы.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859" y="2199952"/>
            <a:ext cx="3622973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504" y="313382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Этап 1 — ФСИ</a:t>
            </a:r>
            <a:endParaRPr lang="en-US" sz="1833" dirty="0"/>
          </a:p>
        </p:txBody>
      </p:sp>
      <p:sp>
        <p:nvSpPr>
          <p:cNvPr id="6" name="Text 3"/>
          <p:cNvSpPr/>
          <p:nvPr/>
        </p:nvSpPr>
        <p:spPr>
          <a:xfrm>
            <a:off x="850504" y="3542507"/>
            <a:ext cx="32449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5 000 000 ₽</a:t>
            </a:r>
            <a:endParaRPr lang="en-US" sz="1458" dirty="0"/>
          </a:p>
        </p:txBody>
      </p:sp>
      <p:sp>
        <p:nvSpPr>
          <p:cNvPr id="7" name="Text 4"/>
          <p:cNvSpPr/>
          <p:nvPr/>
        </p:nvSpPr>
        <p:spPr>
          <a:xfrm>
            <a:off x="850504" y="3958332"/>
            <a:ext cx="324494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Оборудование и аутсорс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Материалы и начисления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Заработная плата команды</a:t>
            </a:r>
            <a:endParaRPr lang="en-US" sz="1458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662" y="2199952"/>
            <a:ext cx="3622973" cy="7560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73476" y="313382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Результат этапа 1</a:t>
            </a:r>
            <a:endParaRPr lang="en-US" sz="1833" dirty="0"/>
          </a:p>
        </p:txBody>
      </p:sp>
      <p:sp>
        <p:nvSpPr>
          <p:cNvPr id="10" name="Text 6"/>
          <p:cNvSpPr/>
          <p:nvPr/>
        </p:nvSpPr>
        <p:spPr>
          <a:xfrm>
            <a:off x="4473476" y="3542507"/>
            <a:ext cx="3244949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Лабораторная и полевая верификация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50 тестовых устройств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Документация для сертификации</a:t>
            </a:r>
            <a:endParaRPr lang="en-US" sz="1458" dirty="0"/>
          </a:p>
        </p:txBody>
      </p:sp>
      <p:sp>
        <p:nvSpPr>
          <p:cNvPr id="12" name="Text 7"/>
          <p:cNvSpPr/>
          <p:nvPr/>
        </p:nvSpPr>
        <p:spPr>
          <a:xfrm>
            <a:off x="8096449" y="3133824"/>
            <a:ext cx="324494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Этап 2 — Масштабирование</a:t>
            </a:r>
            <a:endParaRPr lang="en-US" sz="1833" dirty="0"/>
          </a:p>
        </p:txBody>
      </p:sp>
      <p:sp>
        <p:nvSpPr>
          <p:cNvPr id="13" name="Text 8"/>
          <p:cNvSpPr/>
          <p:nvPr/>
        </p:nvSpPr>
        <p:spPr>
          <a:xfrm>
            <a:off x="8096449" y="3837781"/>
            <a:ext cx="324494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10 000 000 ₽</a:t>
            </a:r>
            <a:endParaRPr lang="en-US" sz="1458" dirty="0"/>
          </a:p>
        </p:txBody>
      </p:sp>
      <p:sp>
        <p:nvSpPr>
          <p:cNvPr id="14" name="Text 9"/>
          <p:cNvSpPr/>
          <p:nvPr/>
        </p:nvSpPr>
        <p:spPr>
          <a:xfrm>
            <a:off x="8096449" y="4253607"/>
            <a:ext cx="3244949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Выпуск 500–700 устройств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Сборка и логистика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Выход на рынки РФ, Казахстана, Беларуси, Сербии</a:t>
            </a:r>
            <a:endParaRPr lang="en-US" sz="1458" dirty="0"/>
          </a:p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Маркетинг и продвижение</a:t>
            </a:r>
            <a:endParaRPr lang="en-US" sz="1458" dirty="0"/>
          </a:p>
        </p:txBody>
      </p:sp>
    </p:spTree>
    <p:extLst>
      <p:ext uri="{BB962C8B-B14F-4D97-AF65-F5344CB8AC3E}">
        <p14:creationId xmlns:p14="http://schemas.microsoft.com/office/powerpoint/2010/main" val="1371188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9"/>
          <p:cNvSpPr/>
          <p:nvPr/>
        </p:nvSpPr>
        <p:spPr>
          <a:xfrm>
            <a:off x="875326" y="1927932"/>
            <a:ext cx="4282829" cy="3792713"/>
          </a:xfrm>
          <a:prstGeom prst="roundRect">
            <a:avLst>
              <a:gd name="adj" fmla="val 486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" name="Text 0"/>
          <p:cNvSpPr/>
          <p:nvPr/>
        </p:nvSpPr>
        <p:spPr>
          <a:xfrm>
            <a:off x="875326" y="782639"/>
            <a:ext cx="706258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Источники дохода FinGrade</a:t>
            </a:r>
            <a:endParaRPr lang="en-US" sz="3667" dirty="0"/>
          </a:p>
        </p:txBody>
      </p:sp>
      <p:sp>
        <p:nvSpPr>
          <p:cNvPr id="6" name="Text 4"/>
          <p:cNvSpPr/>
          <p:nvPr/>
        </p:nvSpPr>
        <p:spPr>
          <a:xfrm>
            <a:off x="1495662" y="2174613"/>
            <a:ext cx="2010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Партнёрские комиссии (CPA)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73658" y="2780615"/>
            <a:ext cx="288616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867" dirty="0">
                <a:solidFill>
                  <a:srgbClr val="000000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Комиссия за целевые действия пользователей: переходы на маркетплейсы, сервисы доставки и EdTech-платформы. Монетизация без прямой оплаты от пользователя.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13154" y="1913658"/>
            <a:ext cx="3197683" cy="3789157"/>
          </a:xfrm>
          <a:prstGeom prst="roundRect">
            <a:avLst>
              <a:gd name="adj" fmla="val 486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066701" y="2174612"/>
            <a:ext cx="2002433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Подписка Premium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10778" y="2765163"/>
            <a:ext cx="200243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867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Расширенный ИИ-ассистент и премиум-функции за </a:t>
            </a:r>
            <a:r>
              <a:rPr lang="en-US" sz="1867" b="1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199 ₽/мес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773244" y="1913658"/>
            <a:ext cx="2839561" cy="3699280"/>
          </a:xfrm>
          <a:prstGeom prst="roundRect">
            <a:avLst>
              <a:gd name="adj" fmla="val 486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9320016" y="2190065"/>
            <a:ext cx="2002433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Лицензирование вузам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447965" y="2799637"/>
            <a:ext cx="2002433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867" dirty="0">
                <a:solidFill>
                  <a:srgbClr val="464646"/>
                </a:solidFill>
                <a:latin typeface="Times New Roman" panose="02020603050405020304" pitchFamily="18" charset="0"/>
                <a:ea typeface="Inter Medium" pitchFamily="34" charset="-122"/>
                <a:cs typeface="Times New Roman" panose="02020603050405020304" pitchFamily="18" charset="0"/>
              </a:rPr>
              <a:t>Продажа права на использование FinGrade как инструмента финансовой грамотности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45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D9D6BF1-DFF2-4526-9D13-BF339D8C4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A54D4DB6-FB18-4CAE-8905-E0053C92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1DBD6488-9429-4FFA-8AE8-C4022C39B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BB74091-09FE-44AF-8325-7FE6E175F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0D7ECC-55A7-24DB-5E44-1F524FE695D2}"/>
              </a:ext>
            </a:extLst>
          </p:cNvPr>
          <p:cNvSpPr txBox="1"/>
          <p:nvPr/>
        </p:nvSpPr>
        <p:spPr>
          <a:xfrm>
            <a:off x="752858" y="4736961"/>
            <a:ext cx="10720685" cy="9367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9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cap="all">
                <a:solidFill>
                  <a:schemeClr val="tx2"/>
                </a:solidFill>
                <a:latin typeface="+mj-lt"/>
                <a:ea typeface="+mj-ea"/>
                <a:cs typeface="+mj-cs"/>
              </a:rPr>
              <a:t>Партнерские программы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AF99094-0FCF-1A9B-FC2B-CE77B2877B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" r="13043"/>
          <a:stretch>
            <a:fillRect/>
          </a:stretch>
        </p:blipFill>
        <p:spPr>
          <a:xfrm>
            <a:off x="20" y="10"/>
            <a:ext cx="12191980" cy="4187119"/>
          </a:xfrm>
          <a:prstGeom prst="rect">
            <a:avLst/>
          </a:prstGeom>
        </p:spPr>
      </p:pic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F30CCEB-94C4-4F72-BA5A-9CEA85302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434936" y="4446551"/>
            <a:ext cx="1957171" cy="1103687"/>
          </a:xfrm>
          <a:custGeom>
            <a:avLst/>
            <a:gdLst>
              <a:gd name="connsiteX0" fmla="*/ 2017702 w 2017702"/>
              <a:gd name="connsiteY0" fmla="*/ 1137821 h 1137821"/>
              <a:gd name="connsiteX1" fmla="*/ 404 w 2017702"/>
              <a:gd name="connsiteY1" fmla="*/ 1137821 h 1137821"/>
              <a:gd name="connsiteX2" fmla="*/ 0 w 2017702"/>
              <a:gd name="connsiteY2" fmla="*/ 900216 h 1137821"/>
              <a:gd name="connsiteX3" fmla="*/ 1767759 w 2017702"/>
              <a:gd name="connsiteY3" fmla="*/ 901031 h 1137821"/>
              <a:gd name="connsiteX4" fmla="*/ 1767759 w 2017702"/>
              <a:gd name="connsiteY4" fmla="*/ 0 h 1137821"/>
              <a:gd name="connsiteX5" fmla="*/ 2017702 w 2017702"/>
              <a:gd name="connsiteY5" fmla="*/ 0 h 113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7702" h="1137821">
                <a:moveTo>
                  <a:pt x="2017702" y="1137821"/>
                </a:moveTo>
                <a:lnTo>
                  <a:pt x="404" y="1137821"/>
                </a:lnTo>
                <a:cubicBezTo>
                  <a:pt x="-404" y="1055814"/>
                  <a:pt x="807" y="982224"/>
                  <a:pt x="0" y="900216"/>
                </a:cubicBezTo>
                <a:lnTo>
                  <a:pt x="1767759" y="901031"/>
                </a:lnTo>
                <a:lnTo>
                  <a:pt x="1767759" y="0"/>
                </a:lnTo>
                <a:lnTo>
                  <a:pt x="2017702" y="0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DE1A94F-CC8B-4954-97A7-ADD4F300D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796837" y="5311230"/>
            <a:ext cx="2042265" cy="1213486"/>
          </a:xfrm>
          <a:custGeom>
            <a:avLst/>
            <a:gdLst>
              <a:gd name="connsiteX0" fmla="*/ 1844618 w 2105428"/>
              <a:gd name="connsiteY0" fmla="*/ 0 h 1251016"/>
              <a:gd name="connsiteX1" fmla="*/ 2105428 w 2105428"/>
              <a:gd name="connsiteY1" fmla="*/ 0 h 1251016"/>
              <a:gd name="connsiteX2" fmla="*/ 2105428 w 2105428"/>
              <a:gd name="connsiteY2" fmla="*/ 1251016 h 1251016"/>
              <a:gd name="connsiteX3" fmla="*/ 421 w 2105428"/>
              <a:gd name="connsiteY3" fmla="*/ 1251016 h 1251016"/>
              <a:gd name="connsiteX4" fmla="*/ 0 w 2105428"/>
              <a:gd name="connsiteY4" fmla="*/ 1003081 h 1251016"/>
              <a:gd name="connsiteX5" fmla="*/ 1844618 w 2105428"/>
              <a:gd name="connsiteY5" fmla="*/ 1003931 h 1251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5428" h="1251016">
                <a:moveTo>
                  <a:pt x="1844618" y="0"/>
                </a:moveTo>
                <a:lnTo>
                  <a:pt x="2105428" y="0"/>
                </a:lnTo>
                <a:lnTo>
                  <a:pt x="2105428" y="1251016"/>
                </a:lnTo>
                <a:lnTo>
                  <a:pt x="421" y="1251016"/>
                </a:lnTo>
                <a:cubicBezTo>
                  <a:pt x="-421" y="1165443"/>
                  <a:pt x="842" y="1088654"/>
                  <a:pt x="0" y="1003081"/>
                </a:cubicBezTo>
                <a:lnTo>
                  <a:pt x="1844618" y="1003931"/>
                </a:lnTo>
                <a:close/>
              </a:path>
            </a:pathLst>
          </a:custGeom>
          <a:solidFill>
            <a:schemeClr val="tx2">
              <a:alpha val="8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908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1863" r="1560" b="1584"/>
          <a:stretch/>
        </p:blipFill>
        <p:spPr>
          <a:xfrm>
            <a:off x="1280159" y="107576"/>
            <a:ext cx="10020749" cy="675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40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71488" t="18603" r="2798" b="40000"/>
          <a:stretch/>
        </p:blipFill>
        <p:spPr>
          <a:xfrm>
            <a:off x="1524001" y="2143121"/>
            <a:ext cx="2819400" cy="29241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l="72396" t="24501" r="2841" b="39308"/>
          <a:stretch/>
        </p:blipFill>
        <p:spPr>
          <a:xfrm>
            <a:off x="4976813" y="2143120"/>
            <a:ext cx="2943225" cy="29241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/>
          <a:srcRect l="72125" t="15048" r="3769" b="46852"/>
          <a:stretch/>
        </p:blipFill>
        <p:spPr>
          <a:xfrm>
            <a:off x="8429624" y="2190750"/>
            <a:ext cx="2895601" cy="287654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2113746" y="1391722"/>
            <a:ext cx="13628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378395" y="1391722"/>
            <a:ext cx="15254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GitVerse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8845496" y="1391722"/>
            <a:ext cx="16802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FinGrade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02054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334</TotalTime>
  <Words>465</Words>
  <Application>Microsoft Office PowerPoint</Application>
  <PresentationFormat>Широкоэкранный</PresentationFormat>
  <Paragraphs>67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Calibri</vt:lpstr>
      <vt:lpstr>DM Sans Semi Bold</vt:lpstr>
      <vt:lpstr>Franklin Gothic Book</vt:lpstr>
      <vt:lpstr>Inter Medium</vt:lpstr>
      <vt:lpstr>Times New Roman</vt:lpstr>
      <vt:lpstr>Crop</vt:lpstr>
      <vt:lpstr>Проект по дисциплине:”технологиИ разработки интернет-приложений”</vt:lpstr>
      <vt:lpstr>Обоснование выбора темы</vt:lpstr>
      <vt:lpstr>Gartner 2026</vt:lpstr>
      <vt:lpstr>Чек – лист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по дисциплине:”технология разработки интернет-приложений”</dc:title>
  <dc:creator>Viktoria</dc:creator>
  <cp:lastModifiedBy>a22748</cp:lastModifiedBy>
  <cp:revision>26</cp:revision>
  <dcterms:created xsi:type="dcterms:W3CDTF">2026-02-19T09:48:52Z</dcterms:created>
  <dcterms:modified xsi:type="dcterms:W3CDTF">2026-05-18T10:14:54Z</dcterms:modified>
</cp:coreProperties>
</file>